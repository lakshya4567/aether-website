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embeddedFontLst>
    <p:embeddedFont>
      <p:font typeface="Noto Sans Bold"/>
      <p:regular r:id="rId201314"/>
    </p:embeddedFont>
    <p:embeddedFont>
      <p:font typeface="Noto Sans"/>
      <p:regular r:id="rId201315"/>
    </p:embeddedFont>
    <p:embeddedFont>
      <p:font typeface="Noto Sans Medium"/>
      <p:regular r:id="rId201316"/>
    </p:embeddedFont>
    <p:embeddedFont>
      <p:font typeface="Rubik Extra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teachers and classmates. Today I am presenting my Class 9 History and General Knowledge project on Company Quartermaster Havildar Abdul Hamid, revered across India as the Tank Buster of the 1965 Indo-Pak War.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Abdul Hamid was born on July 1, 1933, in Dhamupur village in Ghazipur, Uttar Pradesh. Known for physical prowess, wrestling, and discipline, he enlisted in the prestigious 4th Grenadiers battalion in December 1954.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September 1965: Pakistani forces launched a massive tank attack in Khem Karan sector. They used advanced American-made Patton tanks. Indian forces had fewer tanks and lighter weapons, so they needed smart strategy to hold the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Mounted on an unarmored jeep with a 106mm Recoilless Rifle, Abdul Hamid concealed his position inside tall sugarcane fields. He waited for enemy tanks to enter point-blank range, knocking them out with deadly precision over three relentless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September 10, 1965, Hamid spotted yet another tank advancing toward his position and fired, destroying it. Simultaneously, a shell hit his jeep. He made the supreme sacrifice defending his homeland until his very last breath.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Hamid destroyed 8 Patton tanks during the battle, halting Pakistan's primary armored thrust. The battleground became known as Patton Nagar, the graveyard of Patton tanks, safeguarding Indian territory in Punjab.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Posthumously awarded the Param Vir Chakra, India's highest wartime gallantry medal. Remembered as a symbol of courage, discipline, and devotion to the 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7F6F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7F6F1"/>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F7F6F1"/>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6B5C"/>
          </a:solidFill>
          <a:ln/>
        </p:spPr>
      </p:sp>
      <p:pic>
        <p:nvPicPr>
          <p:cNvPr id="3"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07987" y="508000"/>
            <a:ext cx="7365816" cy="5626596"/>
          </a:xfrm>
          <a:prstGeom prst="rect">
            <a:avLst/>
          </a:prstGeom>
          <a:solidFill>
            <a:srgbClr val="0E6B5C"/>
          </a:solidFill>
          <a:ln/>
        </p:spPr>
      </p:sp>
      <p:sp>
        <p:nvSpPr>
          <p:cNvPr id="3" name="Shape 1"/>
          <p:cNvSpPr/>
          <p:nvPr/>
        </p:nvSpPr>
        <p:spPr>
          <a:xfrm>
            <a:off x="863578" y="812800"/>
            <a:ext cx="3733607" cy="651371"/>
          </a:xfrm>
          <a:prstGeom prst="roundRect">
            <a:avLst>
              <a:gd name="adj" fmla="val 4679"/>
            </a:avLst>
          </a:prstGeom>
          <a:solidFill>
            <a:srgbClr val="F7F6F1"/>
          </a:solidFill>
          <a:ln/>
        </p:spPr>
      </p:sp>
      <p:sp>
        <p:nvSpPr>
          <p:cNvPr id="4" name="Text 2"/>
          <p:cNvSpPr/>
          <p:nvPr/>
        </p:nvSpPr>
        <p:spPr>
          <a:xfrm>
            <a:off x="1153091" y="976610"/>
            <a:ext cx="3764166" cy="361851"/>
          </a:xfrm>
          <a:prstGeom prst="rect">
            <a:avLst/>
          </a:prstGeom>
          <a:noFill/>
          <a:ln/>
        </p:spPr>
        <p:txBody>
          <a:bodyPr wrap="none" lIns="0" tIns="0" rIns="0" bIns="0" rtlCol="0" anchor="t"/>
          <a:lstStyle/>
          <a:p>
            <a:pPr algn="l" indent="0" marL="0">
              <a:lnSpc>
                <a:spcPct val="104000"/>
              </a:lnSpc>
              <a:buNone/>
            </a:pPr>
            <a:r>
              <a:rPr lang="en-US" sz="2300" dirty="0">
                <a:solidFill>
                  <a:srgbClr val="1E2329"/>
                </a:solidFill>
                <a:latin typeface="Noto Sans Medium" pitchFamily="34" charset="0"/>
                <a:ea typeface="Noto Sans Medium" pitchFamily="34" charset="-122"/>
                <a:cs typeface="Noto Sans Medium" pitchFamily="34" charset="-120"/>
              </a:rPr>
              <a:t>Param Vir Chakra Hero</a:t>
            </a:r>
            <a:endParaRPr lang="en-US" sz="2300" dirty="0"/>
          </a:p>
        </p:txBody>
      </p:sp>
      <p:sp>
        <p:nvSpPr>
          <p:cNvPr id="5" name="Text 3"/>
          <p:cNvSpPr/>
          <p:nvPr/>
        </p:nvSpPr>
        <p:spPr>
          <a:xfrm>
            <a:off x="863578" y="1678484"/>
            <a:ext cx="6654634" cy="2133600"/>
          </a:xfrm>
          <a:prstGeom prst="rect">
            <a:avLst/>
          </a:prstGeom>
          <a:noFill/>
          <a:ln/>
        </p:spPr>
        <p:txBody>
          <a:bodyPr wrap="square" lIns="0" tIns="0" rIns="0" bIns="0" rtlCol="0" anchor="t">
            <a:normAutofit/>
          </a:bodyPr>
          <a:lstStyle/>
          <a:p>
            <a:pPr algn="l" indent="0" marL="0">
              <a:lnSpc>
                <a:spcPct val="83000"/>
              </a:lnSpc>
              <a:buNone/>
            </a:pPr>
            <a:r>
              <a:rPr lang="en-US" sz="5600" spc="-84" kern="100" dirty="0">
                <a:solidFill>
                  <a:srgbClr val="FFFFFF"/>
                </a:solidFill>
                <a:latin typeface="Rubik ExtraBold" pitchFamily="34" charset="0"/>
                <a:ea typeface="Rubik ExtraBold" pitchFamily="34" charset="-122"/>
                <a:cs typeface="Rubik ExtraBold" pitchFamily="34" charset="-120"/>
              </a:rPr>
              <a:t>CQMH Abdul Hamid: </a:t>
            </a:r>
            <a:pPr algn="l" indent="0" marL="0">
              <a:lnSpc>
                <a:spcPct val="83000"/>
              </a:lnSpc>
              <a:buNone/>
            </a:pPr>
            <a:r>
              <a:rPr lang="en-US" sz="5600" spc="-84" kern="100" dirty="0">
                <a:solidFill>
                  <a:srgbClr val="000000"/>
                </a:solidFill>
                <a:highlight>
                  <a:srgbClr val="FFD84D"/>
                </a:highlight>
                <a:latin typeface="Rubik ExtraBold" pitchFamily="34" charset="0"/>
                <a:ea typeface="Rubik ExtraBold" pitchFamily="34" charset="-122"/>
                <a:cs typeface="Rubik ExtraBold" pitchFamily="34" charset="-120"/>
              </a:rPr>
              <a:t>The Tank Buster</a:t>
            </a:r>
            <a:endParaRPr lang="en-US" sz="5600" dirty="0"/>
          </a:p>
        </p:txBody>
      </p:sp>
      <p:sp>
        <p:nvSpPr>
          <p:cNvPr id="6" name="Shape 4"/>
          <p:cNvSpPr/>
          <p:nvPr/>
        </p:nvSpPr>
        <p:spPr>
          <a:xfrm>
            <a:off x="863578" y="4123234"/>
            <a:ext cx="6654634" cy="12601"/>
          </a:xfrm>
          <a:prstGeom prst="roundRect">
            <a:avLst>
              <a:gd name="adj" fmla="val 49998"/>
            </a:avLst>
          </a:prstGeom>
          <a:solidFill>
            <a:srgbClr val="F7F6F1"/>
          </a:solidFill>
          <a:ln/>
        </p:spPr>
      </p:sp>
      <p:sp>
        <p:nvSpPr>
          <p:cNvPr id="7" name="Text 5"/>
          <p:cNvSpPr/>
          <p:nvPr/>
        </p:nvSpPr>
        <p:spPr>
          <a:xfrm>
            <a:off x="863578" y="4493121"/>
            <a:ext cx="6654634" cy="1371600"/>
          </a:xfrm>
          <a:prstGeom prst="rect">
            <a:avLst/>
          </a:prstGeom>
          <a:noFill/>
          <a:ln/>
        </p:spPr>
        <p:txBody>
          <a:bodyPr wrap="square" lIns="0" tIns="0" rIns="0" bIns="0" rtlCol="0" anchor="t">
            <a:normAutofit/>
          </a:bodyPr>
          <a:lstStyle/>
          <a:p>
            <a:pPr algn="l" indent="0" marL="0">
              <a:lnSpc>
                <a:spcPct val="112000"/>
              </a:lnSpc>
              <a:buNone/>
            </a:pPr>
            <a:r>
              <a:rPr lang="en-US" sz="2000" dirty="0">
                <a:solidFill>
                  <a:srgbClr val="FFFFFF"/>
                </a:solidFill>
                <a:latin typeface="Noto Sans" pitchFamily="34" charset="0"/>
                <a:ea typeface="Noto Sans" pitchFamily="34" charset="-122"/>
                <a:cs typeface="Noto Sans" pitchFamily="34" charset="-120"/>
              </a:rPr>
              <a:t>A Hero of the 1965 Indo-Pak War · India's highest wartime gallantry award</a:t>
            </a:r>
            <a:endParaRPr lang="en-US" sz="2000" dirty="0"/>
          </a:p>
          <a:p>
            <a:pPr algn="l" indent="0" marL="0">
              <a:lnSpc>
                <a:spcPct val="112000"/>
              </a:lnSpc>
              <a:buNone/>
            </a:pPr>
            <a:r>
              <a:rPr lang="en-US" sz="2000" dirty="0">
                <a:solidFill>
                  <a:srgbClr val="FFFFFF"/>
                </a:solidFill>
                <a:latin typeface="Noto Sans" pitchFamily="34" charset="0"/>
                <a:ea typeface="Noto Sans" pitchFamily="34" charset="-122"/>
                <a:cs typeface="Noto Sans" pitchFamily="34" charset="-120"/>
              </a:rPr>
              <a:t>Class 9 History / General Knowledge Project · Prepared by: [Your Name], Class 9</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063898" cy="6858000"/>
          </a:xfrm>
          <a:prstGeom prst="rect">
            <a:avLst/>
          </a:prstGeom>
        </p:spPr>
      </p:pic>
      <p:sp>
        <p:nvSpPr>
          <p:cNvPr id="3" name="Text 0"/>
          <p:cNvSpPr/>
          <p:nvPr/>
        </p:nvSpPr>
        <p:spPr>
          <a:xfrm>
            <a:off x="4470288" y="429780"/>
            <a:ext cx="7315017" cy="1760041"/>
          </a:xfrm>
          <a:prstGeom prst="rect">
            <a:avLst/>
          </a:prstGeom>
          <a:noFill/>
          <a:ln/>
        </p:spPr>
        <p:txBody>
          <a:bodyPr wrap="square" lIns="0" tIns="0" rIns="0" bIns="0" rtlCol="0" anchor="t">
            <a:normAutofit/>
          </a:bodyPr>
          <a:lstStyle/>
          <a:p>
            <a:pPr algn="l" indent="0" marL="0">
              <a:lnSpc>
                <a:spcPct val="92000"/>
              </a:lnSpc>
              <a:buNone/>
            </a:pPr>
            <a:r>
              <a:rPr lang="en-US" sz="4200" spc="-63" kern="100" dirty="0">
                <a:solidFill>
                  <a:srgbClr val="1E2329"/>
                </a:solidFill>
                <a:latin typeface="Rubik ExtraBold" pitchFamily="34" charset="0"/>
                <a:ea typeface="Rubik ExtraBold" pitchFamily="34" charset="-122"/>
                <a:cs typeface="Rubik ExtraBold" pitchFamily="34" charset="-120"/>
              </a:rPr>
              <a:t>Early Life &amp; Joining the Army: The Path to the Param Vir Chakra</a:t>
            </a:r>
            <a:endParaRPr lang="en-US" sz="4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470288" y="2468066"/>
          <a:ext cx="7315017" cy="914400"/>
        </p:xfrm>
        <a:graphic>
          <a:graphicData uri="http://schemas.openxmlformats.org/drawingml/2006/table">
            <a:tbl>
              <a:tblPr/>
              <a:tblGrid>
                <a:gridCol w="1755533"/>
                <a:gridCol w="5559484"/>
              </a:tblGrid>
              <a:tr h="1032445">
                <a:tc>
                  <a:txBody>
                    <a:bodyPr/>
                    <a:lstStyle/>
                    <a:p>
                      <a:pPr algn="l" indent="0" marL="0">
                        <a:buNone/>
                      </a:pPr>
                      <a:r>
                        <a:rPr lang="en-US" sz="2000" spc="80" kern="100" dirty="0">
                          <a:solidFill>
                            <a:srgbClr val="0E6B5C"/>
                          </a:solidFill>
                          <a:latin typeface="Noto Sans" pitchFamily="34" charset="0"/>
                          <a:ea typeface="Noto Sans" pitchFamily="34" charset="-122"/>
                          <a:cs typeface="Noto Sans" pitchFamily="34" charset="-120"/>
                        </a:rPr>
                        <a:t>BORN</a:t>
                      </a:r>
                      <a:endParaRPr lang="en-US" sz="2000" dirty="0">
                        <a:latin typeface="Noto Sans" charset="0"/>
                        <a:ea typeface="Noto Sans" charset="0"/>
                        <a:cs typeface="Noto Sans" charset="0"/>
                      </a:endParaRPr>
                    </a:p>
                  </a:txBody>
                  <a:tcPr marL="228594" marR="228594" marT="101598" marB="101598" anchor="ctr">
                    <a:lnL w="12700" cap="flat" cmpd="sng" algn="ctr">
                      <a:solidFill>
                        <a:srgbClr val="F7F6F1"/>
                      </a:solidFill>
                      <a:prstDash val="solid"/>
                      <a:round/>
                      <a:headEnd type="none" w="med" len="med"/>
                      <a:tailEnd type="none" w="med" len="med"/>
                    </a:lnL>
                    <a:lnR w="12700" cap="flat" cmpd="sng" algn="ctr">
                      <a:solidFill>
                        <a:srgbClr val="F7F6F1"/>
                      </a:solidFill>
                      <a:prstDash val="solid"/>
                      <a:round/>
                      <a:headEnd type="none" w="med" len="med"/>
                      <a:tailEnd type="none" w="med" len="med"/>
                    </a:lnR>
                    <a:lnT w="12700" cap="flat" cmpd="sng" algn="ctr">
                      <a:solidFill>
                        <a:srgbClr val="F7F6F1"/>
                      </a:solidFill>
                      <a:prstDash val="solid"/>
                      <a:round/>
                      <a:headEnd type="none" w="med" len="med"/>
                      <a:tailEnd type="none" w="med" len="med"/>
                    </a:lnT>
                    <a:lnB w="12700" cap="flat" cmpd="sng" algn="ctr">
                      <a:solidFill>
                        <a:srgbClr val="C9CDC8"/>
                      </a:solidFill>
                      <a:prstDash val="solid"/>
                      <a:round/>
                      <a:headEnd type="none" w="med" len="med"/>
                      <a:tailEnd type="none" w="med" len="med"/>
                    </a:lnB>
                  </a:tcPr>
                </a:tc>
                <a:tc>
                  <a:txBody>
                    <a:bodyPr/>
                    <a:lstStyle/>
                    <a:p>
                      <a:pPr algn="l" indent="0" marL="0">
                        <a:buNone/>
                      </a:pPr>
                      <a:r>
                        <a:rPr lang="en-US" sz="2400" b="1" dirty="0">
                          <a:solidFill>
                            <a:srgbClr val="1E2329"/>
                          </a:solidFill>
                          <a:latin typeface="Noto Sans" pitchFamily="34" charset="0"/>
                          <a:ea typeface="Noto Sans" pitchFamily="34" charset="-122"/>
                          <a:cs typeface="Noto Sans" pitchFamily="34" charset="-120"/>
                        </a:rPr>
                        <a:t>July 1, 1933</a:t>
                      </a:r>
                      <a:pPr algn="l" indent="0" marL="0">
                        <a:buNone/>
                      </a:pPr>
                      <a:r>
                        <a:rPr lang="en-US" sz="2400" b="1" dirty="0">
                          <a:solidFill>
                            <a:srgbClr val="1E2329"/>
                          </a:solidFill>
                          <a:latin typeface="Noto Sans" pitchFamily="34" charset="0"/>
                          <a:ea typeface="Noto Sans" pitchFamily="34" charset="-122"/>
                          <a:cs typeface="Noto Sans" pitchFamily="34" charset="-120"/>
                        </a:rPr>
                        <a:t> · Dhamupur village, Ghazipur (Uttar Pradesh)</a:t>
                      </a:r>
                      <a:endParaRPr lang="en-US" sz="2400" dirty="0">
                        <a:latin typeface="Noto Sans" charset="0"/>
                        <a:ea typeface="Noto Sans" charset="0"/>
                        <a:cs typeface="Noto Sans" charset="0"/>
                      </a:endParaRPr>
                    </a:p>
                  </a:txBody>
                  <a:tcPr marL="228594" marR="228594" marT="101598" marB="101598" anchor="ctr">
                    <a:lnL w="12700" cap="flat" cmpd="sng" algn="ctr">
                      <a:solidFill>
                        <a:srgbClr val="F7F6F1"/>
                      </a:solidFill>
                      <a:prstDash val="solid"/>
                      <a:round/>
                      <a:headEnd type="none" w="med" len="med"/>
                      <a:tailEnd type="none" w="med" len="med"/>
                    </a:lnL>
                    <a:lnR w="12700" cap="flat" cmpd="sng" algn="ctr">
                      <a:solidFill>
                        <a:srgbClr val="F7F6F1"/>
                      </a:solidFill>
                      <a:prstDash val="solid"/>
                      <a:round/>
                      <a:headEnd type="none" w="med" len="med"/>
                      <a:tailEnd type="none" w="med" len="med"/>
                    </a:lnR>
                    <a:lnT w="12700" cap="flat" cmpd="sng" algn="ctr">
                      <a:solidFill>
                        <a:srgbClr val="F7F6F1"/>
                      </a:solidFill>
                      <a:prstDash val="solid"/>
                      <a:round/>
                      <a:headEnd type="none" w="med" len="med"/>
                      <a:tailEnd type="none" w="med" len="med"/>
                    </a:lnT>
                    <a:lnB w="12700" cap="flat" cmpd="sng" algn="ctr">
                      <a:solidFill>
                        <a:srgbClr val="C9CDC8"/>
                      </a:solidFill>
                      <a:prstDash val="solid"/>
                      <a:round/>
                      <a:headEnd type="none" w="med" len="med"/>
                      <a:tailEnd type="none" w="med" len="med"/>
                    </a:lnB>
                  </a:tcPr>
                </a:tc>
              </a:tr>
              <a:tr h="1032445">
                <a:tc>
                  <a:txBody>
                    <a:bodyPr/>
                    <a:lstStyle/>
                    <a:p>
                      <a:pPr algn="l" indent="0" marL="0">
                        <a:buNone/>
                      </a:pPr>
                      <a:r>
                        <a:rPr lang="en-US" sz="2000" spc="80" kern="100" dirty="0">
                          <a:solidFill>
                            <a:srgbClr val="0E6B5C"/>
                          </a:solidFill>
                          <a:latin typeface="Noto Sans" pitchFamily="34" charset="0"/>
                          <a:ea typeface="Noto Sans" pitchFamily="34" charset="-122"/>
                          <a:cs typeface="Noto Sans" pitchFamily="34" charset="-120"/>
                        </a:rPr>
                        <a:t>YOUTH</a:t>
                      </a:r>
                      <a:endParaRPr lang="en-US" sz="2000" dirty="0">
                        <a:latin typeface="Noto Sans" charset="0"/>
                        <a:ea typeface="Noto Sans" charset="0"/>
                        <a:cs typeface="Noto Sans" charset="0"/>
                      </a:endParaRPr>
                    </a:p>
                  </a:txBody>
                  <a:tcPr marL="228594" marR="228594" marT="101598" marB="101598" anchor="ctr">
                    <a:lnL w="12700" cap="flat" cmpd="sng" algn="ctr">
                      <a:solidFill>
                        <a:srgbClr val="F7F6F1"/>
                      </a:solidFill>
                      <a:prstDash val="solid"/>
                      <a:round/>
                      <a:headEnd type="none" w="med" len="med"/>
                      <a:tailEnd type="none" w="med" len="med"/>
                    </a:lnL>
                    <a:lnR w="12700" cap="flat" cmpd="sng" algn="ctr">
                      <a:solidFill>
                        <a:srgbClr val="F7F6F1"/>
                      </a:solidFill>
                      <a:prstDash val="solid"/>
                      <a:round/>
                      <a:headEnd type="none" w="med" len="med"/>
                      <a:tailEnd type="none" w="med" len="med"/>
                    </a:lnR>
                    <a:lnT w="12700" cap="flat" cmpd="sng" algn="ctr">
                      <a:solidFill>
                        <a:srgbClr val="C9CDC8"/>
                      </a:solidFill>
                      <a:prstDash val="solid"/>
                      <a:round/>
                      <a:headEnd type="none" w="med" len="med"/>
                      <a:tailEnd type="none" w="med" len="med"/>
                    </a:lnT>
                    <a:lnB w="12700" cap="flat" cmpd="sng" algn="ctr">
                      <a:solidFill>
                        <a:srgbClr val="C9CDC8"/>
                      </a:solidFill>
                      <a:prstDash val="solid"/>
                      <a:round/>
                      <a:headEnd type="none" w="med" len="med"/>
                      <a:tailEnd type="none" w="med" len="med"/>
                    </a:lnB>
                  </a:tcPr>
                </a:tc>
                <a:tc>
                  <a:txBody>
                    <a:bodyPr/>
                    <a:lstStyle/>
                    <a:p>
                      <a:pPr algn="l" indent="0" marL="0">
                        <a:buNone/>
                      </a:pPr>
                      <a:r>
                        <a:rPr lang="en-US" sz="2400" dirty="0">
                          <a:solidFill>
                            <a:srgbClr val="1E2329"/>
                          </a:solidFill>
                          <a:latin typeface="Noto Sans" pitchFamily="34" charset="0"/>
                          <a:ea typeface="Noto Sans" pitchFamily="34" charset="-122"/>
                          <a:cs typeface="Noto Sans" pitchFamily="34" charset="-120"/>
                        </a:rPr>
                        <a:t>Grew up enjoying </a:t>
                      </a:r>
                      <a:pPr algn="l" indent="0" marL="0">
                        <a:buNone/>
                      </a:pPr>
                      <a:r>
                        <a:rPr lang="en-US" sz="2400" b="1" dirty="0">
                          <a:solidFill>
                            <a:srgbClr val="1E2329"/>
                          </a:solidFill>
                          <a:latin typeface="Noto Sans" pitchFamily="34" charset="0"/>
                          <a:ea typeface="Noto Sans" pitchFamily="34" charset="-122"/>
                          <a:cs typeface="Noto Sans" pitchFamily="34" charset="-120"/>
                        </a:rPr>
                        <a:t>wrestling, swimming</a:t>
                      </a:r>
                      <a:pPr algn="l" indent="0" marL="0">
                        <a:buNone/>
                      </a:pPr>
                      <a:r>
                        <a:rPr lang="en-US" sz="2400" dirty="0">
                          <a:solidFill>
                            <a:srgbClr val="1E2329"/>
                          </a:solidFill>
                          <a:latin typeface="Noto Sans" pitchFamily="34" charset="0"/>
                          <a:ea typeface="Noto Sans" pitchFamily="34" charset="-122"/>
                          <a:cs typeface="Noto Sans" pitchFamily="34" charset="-120"/>
                        </a:rPr>
                        <a:t>, and sports</a:t>
                      </a:r>
                      <a:endParaRPr lang="en-US" sz="2400" dirty="0">
                        <a:latin typeface="Noto Sans" charset="0"/>
                        <a:ea typeface="Noto Sans" charset="0"/>
                        <a:cs typeface="Noto Sans" charset="0"/>
                      </a:endParaRPr>
                    </a:p>
                  </a:txBody>
                  <a:tcPr marL="228594" marR="228594" marT="101598" marB="101598" anchor="ctr">
                    <a:lnL w="12700" cap="flat" cmpd="sng" algn="ctr">
                      <a:solidFill>
                        <a:srgbClr val="F7F6F1"/>
                      </a:solidFill>
                      <a:prstDash val="solid"/>
                      <a:round/>
                      <a:headEnd type="none" w="med" len="med"/>
                      <a:tailEnd type="none" w="med" len="med"/>
                    </a:lnL>
                    <a:lnR w="12700" cap="flat" cmpd="sng" algn="ctr">
                      <a:solidFill>
                        <a:srgbClr val="F7F6F1"/>
                      </a:solidFill>
                      <a:prstDash val="solid"/>
                      <a:round/>
                      <a:headEnd type="none" w="med" len="med"/>
                      <a:tailEnd type="none" w="med" len="med"/>
                    </a:lnR>
                    <a:lnT w="12700" cap="flat" cmpd="sng" algn="ctr">
                      <a:solidFill>
                        <a:srgbClr val="C9CDC8"/>
                      </a:solidFill>
                      <a:prstDash val="solid"/>
                      <a:round/>
                      <a:headEnd type="none" w="med" len="med"/>
                      <a:tailEnd type="none" w="med" len="med"/>
                    </a:lnT>
                    <a:lnB w="12700" cap="flat" cmpd="sng" algn="ctr">
                      <a:solidFill>
                        <a:srgbClr val="C9CDC8"/>
                      </a:solidFill>
                      <a:prstDash val="solid"/>
                      <a:round/>
                      <a:headEnd type="none" w="med" len="med"/>
                      <a:tailEnd type="none" w="med" len="med"/>
                    </a:lnB>
                  </a:tcPr>
                </a:tc>
              </a:tr>
              <a:tr h="1026095">
                <a:tc>
                  <a:txBody>
                    <a:bodyPr/>
                    <a:lstStyle/>
                    <a:p>
                      <a:pPr algn="l" indent="0" marL="0">
                        <a:buNone/>
                      </a:pPr>
                      <a:r>
                        <a:rPr lang="en-US" sz="2000" spc="80" kern="100" dirty="0">
                          <a:solidFill>
                            <a:srgbClr val="0E6B5C"/>
                          </a:solidFill>
                          <a:latin typeface="Noto Sans" pitchFamily="34" charset="0"/>
                          <a:ea typeface="Noto Sans" pitchFamily="34" charset="-122"/>
                          <a:cs typeface="Noto Sans" pitchFamily="34" charset="-120"/>
                        </a:rPr>
                        <a:t>ENLISTED</a:t>
                      </a:r>
                      <a:endParaRPr lang="en-US" sz="2000" dirty="0">
                        <a:latin typeface="Noto Sans" charset="0"/>
                        <a:ea typeface="Noto Sans" charset="0"/>
                        <a:cs typeface="Noto Sans" charset="0"/>
                      </a:endParaRPr>
                    </a:p>
                  </a:txBody>
                  <a:tcPr marL="228594" marR="228594" marT="101598" marB="101598" anchor="ctr">
                    <a:lnL w="12700" cap="flat" cmpd="sng" algn="ctr">
                      <a:solidFill>
                        <a:srgbClr val="F7F6F1"/>
                      </a:solidFill>
                      <a:prstDash val="solid"/>
                      <a:round/>
                      <a:headEnd type="none" w="med" len="med"/>
                      <a:tailEnd type="none" w="med" len="med"/>
                    </a:lnL>
                    <a:lnR w="12700" cap="flat" cmpd="sng" algn="ctr">
                      <a:solidFill>
                        <a:srgbClr val="F7F6F1"/>
                      </a:solidFill>
                      <a:prstDash val="solid"/>
                      <a:round/>
                      <a:headEnd type="none" w="med" len="med"/>
                      <a:tailEnd type="none" w="med" len="med"/>
                    </a:lnR>
                    <a:lnT w="12700" cap="flat" cmpd="sng" algn="ctr">
                      <a:solidFill>
                        <a:srgbClr val="C9CDC8"/>
                      </a:solidFill>
                      <a:prstDash val="solid"/>
                      <a:round/>
                      <a:headEnd type="none" w="med" len="med"/>
                      <a:tailEnd type="none" w="med" len="med"/>
                    </a:lnT>
                    <a:lnB w="12700" cap="flat" cmpd="sng" algn="ctr">
                      <a:solidFill>
                        <a:srgbClr val="F7F6F1"/>
                      </a:solidFill>
                      <a:prstDash val="solid"/>
                      <a:round/>
                      <a:headEnd type="none" w="med" len="med"/>
                      <a:tailEnd type="none" w="med" len="med"/>
                    </a:lnB>
                  </a:tcPr>
                </a:tc>
                <a:tc>
                  <a:txBody>
                    <a:bodyPr/>
                    <a:lstStyle/>
                    <a:p>
                      <a:pPr algn="l" indent="0" marL="0">
                        <a:buNone/>
                      </a:pPr>
                      <a:r>
                        <a:rPr lang="en-US" sz="2400" b="1" dirty="0">
                          <a:solidFill>
                            <a:srgbClr val="1E2329"/>
                          </a:solidFill>
                          <a:latin typeface="Noto Sans" pitchFamily="34" charset="0"/>
                          <a:ea typeface="Noto Sans" pitchFamily="34" charset="-122"/>
                          <a:cs typeface="Noto Sans" pitchFamily="34" charset="-120"/>
                        </a:rPr>
                        <a:t>4th Grenadiers</a:t>
                      </a:r>
                      <a:pPr algn="l" indent="0" marL="0">
                        <a:buNone/>
                      </a:pPr>
                      <a:r>
                        <a:rPr lang="en-US" sz="2400" b="1" dirty="0">
                          <a:solidFill>
                            <a:srgbClr val="1E2329"/>
                          </a:solidFill>
                          <a:latin typeface="Noto Sans" pitchFamily="34" charset="0"/>
                          <a:ea typeface="Noto Sans" pitchFamily="34" charset="-122"/>
                          <a:cs typeface="Noto Sans" pitchFamily="34" charset="-120"/>
                        </a:rPr>
                        <a:t> battalion of the Indian Army · December 1954</a:t>
                      </a:r>
                      <a:endParaRPr lang="en-US" sz="2400" dirty="0">
                        <a:latin typeface="Noto Sans" charset="0"/>
                        <a:ea typeface="Noto Sans" charset="0"/>
                        <a:cs typeface="Noto Sans" charset="0"/>
                      </a:endParaRPr>
                    </a:p>
                  </a:txBody>
                  <a:tcPr marL="228594" marR="228594" marT="101598" marB="101598" anchor="ctr">
                    <a:lnL w="12700" cap="flat" cmpd="sng" algn="ctr">
                      <a:solidFill>
                        <a:srgbClr val="F7F6F1"/>
                      </a:solidFill>
                      <a:prstDash val="solid"/>
                      <a:round/>
                      <a:headEnd type="none" w="med" len="med"/>
                      <a:tailEnd type="none" w="med" len="med"/>
                    </a:lnL>
                    <a:lnR w="12700" cap="flat" cmpd="sng" algn="ctr">
                      <a:solidFill>
                        <a:srgbClr val="F7F6F1"/>
                      </a:solidFill>
                      <a:prstDash val="solid"/>
                      <a:round/>
                      <a:headEnd type="none" w="med" len="med"/>
                      <a:tailEnd type="none" w="med" len="med"/>
                    </a:lnR>
                    <a:lnT w="12700" cap="flat" cmpd="sng" algn="ctr">
                      <a:solidFill>
                        <a:srgbClr val="C9CDC8"/>
                      </a:solidFill>
                      <a:prstDash val="solid"/>
                      <a:round/>
                      <a:headEnd type="none" w="med" len="med"/>
                      <a:tailEnd type="none" w="med" len="med"/>
                    </a:lnT>
                    <a:lnB w="12700" cap="flat" cmpd="sng" algn="ctr">
                      <a:solidFill>
                        <a:srgbClr val="F7F6F1"/>
                      </a:solidFill>
                      <a:prstDash val="solid"/>
                      <a:round/>
                      <a:headEnd type="none" w="med" len="med"/>
                      <a:tailEnd type="none" w="med" len="med"/>
                    </a:lnB>
                  </a:tcPr>
                </a:tc>
              </a:tr>
            </a:tbl>
          </a:graphicData>
        </a:graphic>
      </p:graphicFrame>
      <p:sp>
        <p:nvSpPr>
          <p:cNvPr id="5" name="Text 1"/>
          <p:cNvSpPr/>
          <p:nvPr/>
        </p:nvSpPr>
        <p:spPr>
          <a:xfrm>
            <a:off x="11835707" y="6433145"/>
            <a:ext cx="355988" cy="240010"/>
          </a:xfrm>
          <a:prstGeom prst="rect">
            <a:avLst/>
          </a:prstGeom>
          <a:noFill/>
          <a:ln/>
        </p:spPr>
        <p:txBody>
          <a:bodyPr wrap="none" lIns="0" tIns="0" rIns="0" bIns="0" rtlCol="0" anchor="ctr"/>
          <a:lstStyle/>
          <a:p>
            <a:pPr algn="l" indent="0" marL="0">
              <a:lnSpc>
                <a:spcPct val="112000"/>
              </a:lnSpc>
              <a:buNone/>
            </a:pPr>
            <a:r>
              <a:rPr lang="en-US" sz="1400" dirty="0">
                <a:solidFill>
                  <a:srgbClr val="1E2329"/>
                </a:solidFill>
                <a:latin typeface="Noto Sans" pitchFamily="34" charset="0"/>
                <a:ea typeface="Noto Sans" pitchFamily="34" charset="-122"/>
                <a:cs typeface="Noto Sans" pitchFamily="34" charset="-120"/>
              </a:rPr>
              <a:t>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Shape 0"/>
          <p:cNvSpPr/>
          <p:nvPr/>
        </p:nvSpPr>
        <p:spPr>
          <a:xfrm>
            <a:off x="5181470" y="381000"/>
            <a:ext cx="2853758" cy="664071"/>
          </a:xfrm>
          <a:prstGeom prst="roundRect">
            <a:avLst>
              <a:gd name="adj" fmla="val 4590"/>
            </a:avLst>
          </a:prstGeom>
          <a:noFill/>
          <a:ln w="6350">
            <a:solidFill>
              <a:srgbClr val="DFDFE0"/>
            </a:solidFill>
            <a:prstDash val="solid"/>
          </a:ln>
        </p:spPr>
      </p:sp>
      <p:sp>
        <p:nvSpPr>
          <p:cNvPr id="4" name="Text 1"/>
          <p:cNvSpPr/>
          <p:nvPr/>
        </p:nvSpPr>
        <p:spPr>
          <a:xfrm>
            <a:off x="5477333" y="551160"/>
            <a:ext cx="2871616" cy="361851"/>
          </a:xfrm>
          <a:prstGeom prst="rect">
            <a:avLst/>
          </a:prstGeom>
          <a:noFill/>
          <a:ln/>
        </p:spPr>
        <p:txBody>
          <a:bodyPr wrap="none" lIns="0" tIns="0" rIns="0" bIns="0" rtlCol="0" anchor="t"/>
          <a:lstStyle/>
          <a:p>
            <a:pPr algn="l" indent="0" marL="0">
              <a:lnSpc>
                <a:spcPct val="104000"/>
              </a:lnSpc>
              <a:buNone/>
            </a:pPr>
            <a:r>
              <a:rPr lang="en-US" sz="2300" dirty="0">
                <a:solidFill>
                  <a:srgbClr val="0E6B5C"/>
                </a:solidFill>
                <a:latin typeface="Noto Sans Medium" pitchFamily="34" charset="0"/>
                <a:ea typeface="Noto Sans Medium" pitchFamily="34" charset="-122"/>
                <a:cs typeface="Noto Sans Medium" pitchFamily="34" charset="-120"/>
              </a:rPr>
              <a:t>September 1965</a:t>
            </a:r>
            <a:endParaRPr lang="en-US" sz="2300" dirty="0"/>
          </a:p>
        </p:txBody>
      </p:sp>
      <p:sp>
        <p:nvSpPr>
          <p:cNvPr id="5" name="Text 2"/>
          <p:cNvSpPr/>
          <p:nvPr/>
        </p:nvSpPr>
        <p:spPr>
          <a:xfrm>
            <a:off x="5181470" y="1217676"/>
            <a:ext cx="6553036" cy="1173361"/>
          </a:xfrm>
          <a:prstGeom prst="rect">
            <a:avLst/>
          </a:prstGeom>
          <a:noFill/>
          <a:ln/>
        </p:spPr>
        <p:txBody>
          <a:bodyPr wrap="square" lIns="0" tIns="0" rIns="0" bIns="0" rtlCol="0" anchor="t">
            <a:normAutofit/>
          </a:bodyPr>
          <a:lstStyle/>
          <a:p>
            <a:pPr algn="l" indent="0" marL="0">
              <a:lnSpc>
                <a:spcPct val="92000"/>
              </a:lnSpc>
              <a:buNone/>
            </a:pPr>
            <a:r>
              <a:rPr lang="en-US" sz="4200" spc="-63" kern="100" dirty="0">
                <a:solidFill>
                  <a:srgbClr val="1E2329"/>
                </a:solidFill>
                <a:latin typeface="Rubik ExtraBold" pitchFamily="34" charset="0"/>
                <a:ea typeface="Rubik ExtraBold" pitchFamily="34" charset="-122"/>
                <a:cs typeface="Rubik ExtraBold" pitchFamily="34" charset="-120"/>
              </a:rPr>
              <a:t>The 1965 Battle of Asal Uttar</a:t>
            </a:r>
            <a:endParaRPr lang="en-US" sz="4200" dirty="0"/>
          </a:p>
        </p:txBody>
      </p:sp>
      <p:sp>
        <p:nvSpPr>
          <p:cNvPr id="6" name="Text 3"/>
          <p:cNvSpPr/>
          <p:nvPr/>
        </p:nvSpPr>
        <p:spPr>
          <a:xfrm>
            <a:off x="5181470" y="2669282"/>
            <a:ext cx="6553036" cy="3032621"/>
          </a:xfrm>
          <a:prstGeom prst="rect">
            <a:avLst/>
          </a:prstGeom>
          <a:noFill/>
          <a:ln/>
        </p:spPr>
        <p:txBody>
          <a:bodyPr wrap="square" lIns="0" tIns="0" rIns="0" bIns="0" rtlCol="0" anchor="t">
            <a:normAutofit/>
          </a:bodyPr>
          <a:lstStyle/>
          <a:p>
            <a:pPr algn="l" marL="487680" indent="-487680">
              <a:lnSpc>
                <a:spcPct val="113000"/>
              </a:lnSpc>
              <a:buSzPct val="100000"/>
              <a:buChar char="•"/>
            </a:pPr>
            <a:r>
              <a:rPr lang="en-US" sz="2400" dirty="0">
                <a:solidFill>
                  <a:srgbClr val="1E2329"/>
                </a:solidFill>
                <a:latin typeface="Noto Sans" pitchFamily="34" charset="0"/>
                <a:ea typeface="Noto Sans" pitchFamily="34" charset="-122"/>
                <a:cs typeface="Noto Sans" pitchFamily="34" charset="-120"/>
              </a:rPr>
              <a:t>Pakistani forces launched a </a:t>
            </a:r>
            <a:pPr algn="l" marL="487680" indent="-487680">
              <a:lnSpc>
                <a:spcPct val="113000"/>
              </a:lnSpc>
              <a:buSzPct val="100000"/>
              <a:buChar char="•"/>
            </a:pPr>
            <a:r>
              <a:rPr lang="en-US" sz="2400" b="1" dirty="0">
                <a:solidFill>
                  <a:srgbClr val="1E2329"/>
                </a:solidFill>
                <a:latin typeface="Noto Sans Bold" pitchFamily="34" charset="0"/>
                <a:ea typeface="Noto Sans Bold" pitchFamily="34" charset="-122"/>
                <a:cs typeface="Noto Sans Bold" pitchFamily="34" charset="-120"/>
              </a:rPr>
              <a:t>massive tank attack</a:t>
            </a:r>
            <a:pPr algn="l" marL="487680" indent="-487680">
              <a:lnSpc>
                <a:spcPct val="113000"/>
              </a:lnSpc>
              <a:buSzPct val="100000"/>
              <a:buChar char="•"/>
            </a:pPr>
            <a:r>
              <a:rPr lang="en-US" sz="2400" dirty="0">
                <a:solidFill>
                  <a:srgbClr val="1E2329"/>
                </a:solidFill>
                <a:latin typeface="Noto Sans" pitchFamily="34" charset="0"/>
                <a:ea typeface="Noto Sans" pitchFamily="34" charset="-122"/>
                <a:cs typeface="Noto Sans" pitchFamily="34" charset="-120"/>
              </a:rPr>
              <a:t> in Khem Karan sector.</a:t>
            </a:r>
            <a:endParaRPr lang="en-US" sz="2400" dirty="0"/>
          </a:p>
          <a:p>
            <a:pPr algn="l" marL="487680" indent="-487680">
              <a:lnSpc>
                <a:spcPct val="113000"/>
              </a:lnSpc>
              <a:buSzPct val="100000"/>
              <a:buChar char="•"/>
            </a:pPr>
            <a:r>
              <a:rPr lang="en-US" sz="2400" dirty="0">
                <a:solidFill>
                  <a:srgbClr val="1E2329"/>
                </a:solidFill>
                <a:latin typeface="Noto Sans" pitchFamily="34" charset="0"/>
                <a:ea typeface="Noto Sans" pitchFamily="34" charset="-122"/>
                <a:cs typeface="Noto Sans" pitchFamily="34" charset="-120"/>
              </a:rPr>
              <a:t>They used advanced American-made </a:t>
            </a:r>
            <a:pPr algn="l" marL="487680" indent="-487680">
              <a:lnSpc>
                <a:spcPct val="113000"/>
              </a:lnSpc>
              <a:buSzPct val="100000"/>
              <a:buChar char="•"/>
            </a:pPr>
            <a:r>
              <a:rPr lang="en-US" sz="2400" b="1" dirty="0">
                <a:solidFill>
                  <a:srgbClr val="1E2329"/>
                </a:solidFill>
                <a:latin typeface="Noto Sans Bold" pitchFamily="34" charset="0"/>
                <a:ea typeface="Noto Sans Bold" pitchFamily="34" charset="-122"/>
                <a:cs typeface="Noto Sans Bold" pitchFamily="34" charset="-120"/>
              </a:rPr>
              <a:t>Patton tanks</a:t>
            </a:r>
            <a:pPr algn="l" marL="487680" indent="-487680">
              <a:lnSpc>
                <a:spcPct val="113000"/>
              </a:lnSpc>
              <a:buSzPct val="100000"/>
              <a:buChar char="•"/>
            </a:pPr>
            <a:r>
              <a:rPr lang="en-US" sz="2400" dirty="0">
                <a:solidFill>
                  <a:srgbClr val="1E2329"/>
                </a:solidFill>
                <a:latin typeface="Noto Sans" pitchFamily="34" charset="0"/>
                <a:ea typeface="Noto Sans" pitchFamily="34" charset="-122"/>
                <a:cs typeface="Noto Sans" pitchFamily="34" charset="-120"/>
              </a:rPr>
              <a:t>.</a:t>
            </a:r>
            <a:endParaRPr lang="en-US" sz="2400" dirty="0"/>
          </a:p>
          <a:p>
            <a:pPr algn="l" marL="487680" indent="-487680">
              <a:lnSpc>
                <a:spcPct val="113000"/>
              </a:lnSpc>
              <a:buSzPct val="100000"/>
              <a:buChar char="•"/>
            </a:pPr>
            <a:r>
              <a:rPr lang="en-US" sz="2400" dirty="0">
                <a:solidFill>
                  <a:srgbClr val="1E2329"/>
                </a:solidFill>
                <a:latin typeface="Noto Sans" pitchFamily="34" charset="0"/>
                <a:ea typeface="Noto Sans" pitchFamily="34" charset="-122"/>
                <a:cs typeface="Noto Sans" pitchFamily="34" charset="-120"/>
              </a:rPr>
              <a:t>Indian forces had fewer tanks and lighter weapons, so they needed </a:t>
            </a:r>
            <a:pPr algn="l" marL="487680" indent="-487680">
              <a:lnSpc>
                <a:spcPct val="113000"/>
              </a:lnSpc>
              <a:buSzPct val="100000"/>
              <a:buChar char="•"/>
            </a:pPr>
            <a:r>
              <a:rPr lang="en-US" sz="2400" b="1" dirty="0">
                <a:solidFill>
                  <a:srgbClr val="1E2329"/>
                </a:solidFill>
                <a:latin typeface="Noto Sans Bold" pitchFamily="34" charset="0"/>
                <a:ea typeface="Noto Sans Bold" pitchFamily="34" charset="-122"/>
                <a:cs typeface="Noto Sans Bold" pitchFamily="34" charset="-120"/>
              </a:rPr>
              <a:t>smart strategy</a:t>
            </a:r>
            <a:pPr algn="l" marL="487680" indent="-487680">
              <a:lnSpc>
                <a:spcPct val="113000"/>
              </a:lnSpc>
              <a:buSzPct val="100000"/>
              <a:buChar char="•"/>
            </a:pPr>
            <a:r>
              <a:rPr lang="en-US" sz="2400" dirty="0">
                <a:solidFill>
                  <a:srgbClr val="1E2329"/>
                </a:solidFill>
                <a:latin typeface="Noto Sans" pitchFamily="34" charset="0"/>
                <a:ea typeface="Noto Sans" pitchFamily="34" charset="-122"/>
                <a:cs typeface="Noto Sans" pitchFamily="34" charset="-120"/>
              </a:rPr>
              <a:t> to hold the line.</a:t>
            </a:r>
            <a:endParaRPr lang="en-US" sz="2400" dirty="0"/>
          </a:p>
        </p:txBody>
      </p:sp>
      <p:sp>
        <p:nvSpPr>
          <p:cNvPr id="7" name="Text 4"/>
          <p:cNvSpPr/>
          <p:nvPr/>
        </p:nvSpPr>
        <p:spPr>
          <a:xfrm>
            <a:off x="11835707" y="6433145"/>
            <a:ext cx="355988" cy="240010"/>
          </a:xfrm>
          <a:prstGeom prst="rect">
            <a:avLst/>
          </a:prstGeom>
          <a:noFill/>
          <a:ln/>
        </p:spPr>
        <p:txBody>
          <a:bodyPr wrap="none" lIns="0" tIns="0" rIns="0" bIns="0" rtlCol="0" anchor="ctr"/>
          <a:lstStyle/>
          <a:p>
            <a:pPr algn="l" indent="0" marL="0">
              <a:lnSpc>
                <a:spcPct val="112000"/>
              </a:lnSpc>
              <a:buNone/>
            </a:pPr>
            <a:r>
              <a:rPr lang="en-US" sz="1400" dirty="0">
                <a:solidFill>
                  <a:srgbClr val="1E2329"/>
                </a:solidFill>
                <a:latin typeface="Noto Sans" pitchFamily="34" charset="0"/>
                <a:ea typeface="Noto Sans" pitchFamily="34" charset="-122"/>
                <a:cs typeface="Noto Sans" pitchFamily="34" charset="-120"/>
              </a:rPr>
              <a:t>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876678" cy="6858000"/>
          </a:xfrm>
          <a:prstGeom prst="rect">
            <a:avLst/>
          </a:prstGeom>
        </p:spPr>
      </p:pic>
      <p:sp>
        <p:nvSpPr>
          <p:cNvPr id="3" name="Text 0"/>
          <p:cNvSpPr/>
          <p:nvPr/>
        </p:nvSpPr>
        <p:spPr>
          <a:xfrm>
            <a:off x="5384665" y="429780"/>
            <a:ext cx="6299042" cy="1173361"/>
          </a:xfrm>
          <a:prstGeom prst="rect">
            <a:avLst/>
          </a:prstGeom>
          <a:noFill/>
          <a:ln/>
        </p:spPr>
        <p:txBody>
          <a:bodyPr wrap="square" lIns="0" tIns="0" rIns="0" bIns="0" rtlCol="0" anchor="t">
            <a:normAutofit/>
          </a:bodyPr>
          <a:lstStyle/>
          <a:p>
            <a:pPr algn="l" indent="0" marL="0">
              <a:lnSpc>
                <a:spcPct val="92000"/>
              </a:lnSpc>
              <a:buNone/>
            </a:pPr>
            <a:r>
              <a:rPr lang="en-US" sz="4200" spc="-63" kern="100" dirty="0">
                <a:solidFill>
                  <a:srgbClr val="1E2329"/>
                </a:solidFill>
                <a:latin typeface="Rubik ExtraBold" pitchFamily="34" charset="0"/>
                <a:ea typeface="Rubik ExtraBold" pitchFamily="34" charset="-122"/>
                <a:cs typeface="Rubik ExtraBold" pitchFamily="34" charset="-120"/>
              </a:rPr>
              <a:t>Abdul Hamid's Brave Action</a:t>
            </a:r>
            <a:endParaRPr lang="en-US" sz="4200" dirty="0"/>
          </a:p>
        </p:txBody>
      </p:sp>
      <p:sp>
        <p:nvSpPr>
          <p:cNvPr id="4" name="Text 1"/>
          <p:cNvSpPr/>
          <p:nvPr/>
        </p:nvSpPr>
        <p:spPr>
          <a:xfrm>
            <a:off x="5384665" y="1881386"/>
            <a:ext cx="6299042" cy="3520281"/>
          </a:xfrm>
          <a:prstGeom prst="rect">
            <a:avLst/>
          </a:prstGeom>
          <a:noFill/>
          <a:ln/>
        </p:spPr>
        <p:txBody>
          <a:bodyPr wrap="square" lIns="0" tIns="0" rIns="0" bIns="0" rtlCol="0" anchor="t">
            <a:normAutofit/>
          </a:bodyPr>
          <a:lstStyle/>
          <a:p>
            <a:pPr algn="l" marL="487680" indent="-487680">
              <a:lnSpc>
                <a:spcPct val="113000"/>
              </a:lnSpc>
              <a:buSzPct val="100000"/>
              <a:buChar char="•"/>
            </a:pPr>
            <a:r>
              <a:rPr lang="en-US" sz="2400" dirty="0">
                <a:solidFill>
                  <a:srgbClr val="1E2329"/>
                </a:solidFill>
                <a:latin typeface="Noto Sans" pitchFamily="34" charset="0"/>
                <a:ea typeface="Noto Sans" pitchFamily="34" charset="-122"/>
                <a:cs typeface="Noto Sans" pitchFamily="34" charset="-120"/>
              </a:rPr>
              <a:t>Armed with a </a:t>
            </a:r>
            <a:pPr algn="l" marL="487680" indent="-487680">
              <a:lnSpc>
                <a:spcPct val="113000"/>
              </a:lnSpc>
              <a:buSzPct val="100000"/>
              <a:buChar char="•"/>
            </a:pPr>
            <a:r>
              <a:rPr lang="en-US" sz="2400" b="1" dirty="0">
                <a:solidFill>
                  <a:srgbClr val="1E2329"/>
                </a:solidFill>
                <a:latin typeface="Noto Sans Bold" pitchFamily="34" charset="0"/>
                <a:ea typeface="Noto Sans Bold" pitchFamily="34" charset="-122"/>
                <a:cs typeface="Noto Sans Bold" pitchFamily="34" charset="-120"/>
              </a:rPr>
              <a:t>106mm Recoilless Rifle</a:t>
            </a:r>
            <a:pPr algn="l" marL="487680" indent="-487680">
              <a:lnSpc>
                <a:spcPct val="113000"/>
              </a:lnSpc>
              <a:buSzPct val="100000"/>
              <a:buChar char="•"/>
            </a:pPr>
            <a:r>
              <a:rPr lang="en-US" sz="2400" dirty="0">
                <a:solidFill>
                  <a:srgbClr val="1E2329"/>
                </a:solidFill>
                <a:latin typeface="Noto Sans" pitchFamily="34" charset="0"/>
                <a:ea typeface="Noto Sans" pitchFamily="34" charset="-122"/>
                <a:cs typeface="Noto Sans" pitchFamily="34" charset="-120"/>
              </a:rPr>
              <a:t> mounted on a light Jeep</a:t>
            </a:r>
            <a:endParaRPr lang="en-US" sz="2400" dirty="0"/>
          </a:p>
          <a:p>
            <a:pPr algn="l" marL="487680" indent="-487680">
              <a:lnSpc>
                <a:spcPct val="113000"/>
              </a:lnSpc>
              <a:buSzPct val="100000"/>
              <a:buChar char="•"/>
            </a:pPr>
            <a:r>
              <a:rPr lang="en-US" sz="2400" dirty="0">
                <a:solidFill>
                  <a:srgbClr val="1E2329"/>
                </a:solidFill>
                <a:latin typeface="Noto Sans" pitchFamily="34" charset="0"/>
                <a:ea typeface="Noto Sans" pitchFamily="34" charset="-122"/>
                <a:cs typeface="Noto Sans" pitchFamily="34" charset="-120"/>
              </a:rPr>
              <a:t>Hid his jeep inside tall </a:t>
            </a:r>
            <a:pPr algn="l" marL="487680" indent="-487680">
              <a:lnSpc>
                <a:spcPct val="113000"/>
              </a:lnSpc>
              <a:buSzPct val="100000"/>
              <a:buChar char="•"/>
            </a:pPr>
            <a:r>
              <a:rPr lang="en-US" sz="2400" b="1" dirty="0">
                <a:solidFill>
                  <a:srgbClr val="1E2329"/>
                </a:solidFill>
                <a:latin typeface="Noto Sans Bold" pitchFamily="34" charset="0"/>
                <a:ea typeface="Noto Sans Bold" pitchFamily="34" charset="-122"/>
                <a:cs typeface="Noto Sans Bold" pitchFamily="34" charset="-120"/>
              </a:rPr>
              <a:t>sugar cane fields</a:t>
            </a:r>
            <a:pPr algn="l" marL="487680" indent="-487680">
              <a:lnSpc>
                <a:spcPct val="113000"/>
              </a:lnSpc>
              <a:buSzPct val="100000"/>
              <a:buChar char="•"/>
            </a:pPr>
            <a:r>
              <a:rPr lang="en-US" sz="2400" dirty="0">
                <a:solidFill>
                  <a:srgbClr val="1E2329"/>
                </a:solidFill>
                <a:latin typeface="Noto Sans" pitchFamily="34" charset="0"/>
                <a:ea typeface="Noto Sans" pitchFamily="34" charset="-122"/>
                <a:cs typeface="Noto Sans" pitchFamily="34" charset="-120"/>
              </a:rPr>
              <a:t> for cover</a:t>
            </a:r>
            <a:endParaRPr lang="en-US" sz="2400" dirty="0"/>
          </a:p>
          <a:p>
            <a:pPr algn="l" marL="487680" indent="-487680">
              <a:lnSpc>
                <a:spcPct val="113000"/>
              </a:lnSpc>
              <a:buSzPct val="100000"/>
              <a:buChar char="•"/>
            </a:pPr>
            <a:r>
              <a:rPr lang="en-US" sz="2400" dirty="0">
                <a:solidFill>
                  <a:srgbClr val="1E2329"/>
                </a:solidFill>
                <a:latin typeface="Noto Sans" pitchFamily="34" charset="0"/>
                <a:ea typeface="Noto Sans" pitchFamily="34" charset="-122"/>
                <a:cs typeface="Noto Sans" pitchFamily="34" charset="-120"/>
              </a:rPr>
              <a:t>Waited patiently for enemy tanks to get close before firing</a:t>
            </a:r>
            <a:endParaRPr lang="en-US" sz="2400" dirty="0"/>
          </a:p>
          <a:p>
            <a:pPr algn="l" marL="487680" indent="-487680">
              <a:lnSpc>
                <a:spcPct val="113000"/>
              </a:lnSpc>
              <a:buSzPct val="100000"/>
              <a:buChar char="•"/>
            </a:pPr>
            <a:r>
              <a:rPr lang="en-US" sz="2400" dirty="0">
                <a:solidFill>
                  <a:srgbClr val="1E2329"/>
                </a:solidFill>
                <a:latin typeface="Noto Sans" pitchFamily="34" charset="0"/>
                <a:ea typeface="Noto Sans" pitchFamily="34" charset="-122"/>
                <a:cs typeface="Noto Sans" pitchFamily="34" charset="-120"/>
              </a:rPr>
              <a:t>Single-handedly destroyed multiple Patton tanks over </a:t>
            </a:r>
            <a:pPr algn="l" marL="487680" indent="-487680">
              <a:lnSpc>
                <a:spcPct val="113000"/>
              </a:lnSpc>
              <a:buSzPct val="100000"/>
              <a:buChar char="•"/>
            </a:pPr>
            <a:r>
              <a:rPr lang="en-US" sz="2400" b="1" dirty="0">
                <a:solidFill>
                  <a:srgbClr val="000000"/>
                </a:solidFill>
                <a:latin typeface="Noto Sans Bold" pitchFamily="34" charset="0"/>
                <a:ea typeface="Noto Sans Bold" pitchFamily="34" charset="-122"/>
                <a:cs typeface="Noto Sans Bold" pitchFamily="34" charset="-120"/>
              </a:rPr>
              <a:t>three days</a:t>
            </a:r>
            <a:endParaRPr lang="en-US" sz="2400" dirty="0"/>
          </a:p>
        </p:txBody>
      </p:sp>
      <p:sp>
        <p:nvSpPr>
          <p:cNvPr id="5" name="Text 2"/>
          <p:cNvSpPr/>
          <p:nvPr/>
        </p:nvSpPr>
        <p:spPr>
          <a:xfrm>
            <a:off x="11835707" y="6433145"/>
            <a:ext cx="355988" cy="240010"/>
          </a:xfrm>
          <a:prstGeom prst="rect">
            <a:avLst/>
          </a:prstGeom>
          <a:noFill/>
          <a:ln/>
        </p:spPr>
        <p:txBody>
          <a:bodyPr wrap="none" lIns="0" tIns="0" rIns="0" bIns="0" rtlCol="0" anchor="ctr"/>
          <a:lstStyle/>
          <a:p>
            <a:pPr algn="l" indent="0" marL="0">
              <a:lnSpc>
                <a:spcPct val="112000"/>
              </a:lnSpc>
              <a:buNone/>
            </a:pPr>
            <a:r>
              <a:rPr lang="en-US" sz="1400" dirty="0">
                <a:solidFill>
                  <a:srgbClr val="1E2329"/>
                </a:solidFill>
                <a:latin typeface="Noto Sans" pitchFamily="34" charset="0"/>
                <a:ea typeface="Noto Sans" pitchFamily="34" charset="-122"/>
                <a:cs typeface="Noto Sans" pitchFamily="34" charset="-120"/>
              </a:rPr>
              <a:t>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2279019"/>
            <a:ext cx="3474653" cy="2346722"/>
          </a:xfrm>
          <a:prstGeom prst="rect">
            <a:avLst/>
          </a:prstGeom>
          <a:noFill/>
          <a:ln/>
        </p:spPr>
        <p:txBody>
          <a:bodyPr wrap="square" lIns="0" tIns="0" rIns="0" bIns="0" rtlCol="0" anchor="t">
            <a:normAutofit/>
          </a:bodyPr>
          <a:lstStyle/>
          <a:p>
            <a:pPr algn="l" indent="0" marL="0">
              <a:lnSpc>
                <a:spcPct val="92000"/>
              </a:lnSpc>
              <a:buNone/>
            </a:pPr>
            <a:r>
              <a:rPr lang="en-US" sz="4200" spc="-63" kern="100" dirty="0">
                <a:solidFill>
                  <a:srgbClr val="1E2329"/>
                </a:solidFill>
                <a:latin typeface="Rubik ExtraBold" pitchFamily="34" charset="0"/>
                <a:ea typeface="Rubik ExtraBold" pitchFamily="34" charset="-122"/>
                <a:cs typeface="Rubik ExtraBold" pitchFamily="34" charset="-120"/>
              </a:rPr>
              <a:t>Supreme Sacrifice: 10 September 1965</a:t>
            </a:r>
            <a:endParaRPr lang="en-US" sz="4200" dirty="0"/>
          </a:p>
        </p:txBody>
      </p:sp>
      <p:sp>
        <p:nvSpPr>
          <p:cNvPr id="3" name="Text 1"/>
          <p:cNvSpPr/>
          <p:nvPr/>
        </p:nvSpPr>
        <p:spPr>
          <a:xfrm>
            <a:off x="5760497" y="2118420"/>
            <a:ext cx="5821614" cy="2621161"/>
          </a:xfrm>
          <a:prstGeom prst="rect">
            <a:avLst/>
          </a:prstGeom>
          <a:noFill/>
          <a:ln/>
        </p:spPr>
        <p:txBody>
          <a:bodyPr wrap="square" lIns="0" tIns="0" rIns="0" bIns="0" rtlCol="0" anchor="t">
            <a:normAutofit/>
          </a:bodyPr>
          <a:lstStyle/>
          <a:p>
            <a:pPr algn="l" marL="487680" indent="-487680">
              <a:lnSpc>
                <a:spcPct val="113000"/>
              </a:lnSpc>
              <a:buSzPct val="100000"/>
              <a:buChar char="•"/>
            </a:pPr>
            <a:r>
              <a:rPr lang="en-US" sz="2400" dirty="0">
                <a:solidFill>
                  <a:srgbClr val="1E2329"/>
                </a:solidFill>
                <a:latin typeface="Noto Sans" pitchFamily="34" charset="0"/>
                <a:ea typeface="Noto Sans" pitchFamily="34" charset="-122"/>
                <a:cs typeface="Noto Sans" pitchFamily="34" charset="-120"/>
              </a:rPr>
              <a:t>Spotted another enemy tank and </a:t>
            </a:r>
            <a:pPr algn="l" marL="487680" indent="-487680">
              <a:lnSpc>
                <a:spcPct val="113000"/>
              </a:lnSpc>
              <a:buSzPct val="100000"/>
              <a:buChar char="•"/>
            </a:pPr>
            <a:r>
              <a:rPr lang="en-US" sz="2400" b="1" dirty="0">
                <a:solidFill>
                  <a:srgbClr val="1E2329"/>
                </a:solidFill>
                <a:latin typeface="Noto Sans Bold" pitchFamily="34" charset="0"/>
                <a:ea typeface="Noto Sans Bold" pitchFamily="34" charset="-122"/>
                <a:cs typeface="Noto Sans Bold" pitchFamily="34" charset="-120"/>
              </a:rPr>
              <a:t>fired to destroy it</a:t>
            </a:r>
            <a:endParaRPr lang="en-US" sz="2400" dirty="0"/>
          </a:p>
          <a:p>
            <a:pPr algn="l" marL="487680" indent="-487680">
              <a:lnSpc>
                <a:spcPct val="113000"/>
              </a:lnSpc>
              <a:buSzPct val="100000"/>
              <a:buChar char="•"/>
            </a:pPr>
            <a:r>
              <a:rPr lang="en-US" sz="2400" dirty="0">
                <a:solidFill>
                  <a:srgbClr val="1E2329"/>
                </a:solidFill>
                <a:latin typeface="Noto Sans" pitchFamily="34" charset="0"/>
                <a:ea typeface="Noto Sans" pitchFamily="34" charset="-122"/>
                <a:cs typeface="Noto Sans" pitchFamily="34" charset="-120"/>
              </a:rPr>
              <a:t>At the same moment, his jeep was targeted by enemy tank fire</a:t>
            </a:r>
            <a:endParaRPr lang="en-US" sz="2400" dirty="0"/>
          </a:p>
          <a:p>
            <a:pPr algn="l" marL="487680" indent="-487680">
              <a:lnSpc>
                <a:spcPct val="113000"/>
              </a:lnSpc>
              <a:buSzPct val="100000"/>
              <a:buChar char="•"/>
            </a:pPr>
            <a:r>
              <a:rPr lang="en-US" sz="2400" dirty="0">
                <a:solidFill>
                  <a:srgbClr val="1E2329"/>
                </a:solidFill>
                <a:latin typeface="Noto Sans" pitchFamily="34" charset="0"/>
                <a:ea typeface="Noto Sans" pitchFamily="34" charset="-122"/>
                <a:cs typeface="Noto Sans" pitchFamily="34" charset="-120"/>
              </a:rPr>
              <a:t>Fought bravely </a:t>
            </a:r>
            <a:pPr algn="l" marL="487680" indent="-487680">
              <a:lnSpc>
                <a:spcPct val="113000"/>
              </a:lnSpc>
              <a:buSzPct val="100000"/>
              <a:buChar char="•"/>
            </a:pPr>
            <a:r>
              <a:rPr lang="en-US" sz="2400" b="1" dirty="0">
                <a:solidFill>
                  <a:srgbClr val="1E2329"/>
                </a:solidFill>
                <a:latin typeface="Noto Sans Bold" pitchFamily="34" charset="0"/>
                <a:ea typeface="Noto Sans Bold" pitchFamily="34" charset="-122"/>
                <a:cs typeface="Noto Sans Bold" pitchFamily="34" charset="-120"/>
              </a:rPr>
              <a:t>until his last breath</a:t>
            </a:r>
            <a:pPr algn="l" marL="487680" indent="-487680">
              <a:lnSpc>
                <a:spcPct val="113000"/>
              </a:lnSpc>
              <a:buSzPct val="100000"/>
              <a:buChar char="•"/>
            </a:pPr>
            <a:r>
              <a:rPr lang="en-US" sz="2400" dirty="0">
                <a:solidFill>
                  <a:srgbClr val="1E2329"/>
                </a:solidFill>
                <a:latin typeface="Noto Sans" pitchFamily="34" charset="0"/>
                <a:ea typeface="Noto Sans" pitchFamily="34" charset="-122"/>
                <a:cs typeface="Noto Sans" pitchFamily="34" charset="-120"/>
              </a:rPr>
              <a:t> to defend Indian territory</a:t>
            </a:r>
            <a:endParaRPr lang="en-US" sz="2400" dirty="0"/>
          </a:p>
        </p:txBody>
      </p:sp>
      <p:sp>
        <p:nvSpPr>
          <p:cNvPr id="4" name="Text 2"/>
          <p:cNvSpPr/>
          <p:nvPr/>
        </p:nvSpPr>
        <p:spPr>
          <a:xfrm>
            <a:off x="11835707" y="6433145"/>
            <a:ext cx="355988" cy="240010"/>
          </a:xfrm>
          <a:prstGeom prst="rect">
            <a:avLst/>
          </a:prstGeom>
          <a:noFill/>
          <a:ln/>
        </p:spPr>
        <p:txBody>
          <a:bodyPr wrap="none" lIns="0" tIns="0" rIns="0" bIns="0" rtlCol="0" anchor="ctr"/>
          <a:lstStyle/>
          <a:p>
            <a:pPr algn="l" indent="0" marL="0">
              <a:lnSpc>
                <a:spcPct val="112000"/>
              </a:lnSpc>
              <a:buNone/>
            </a:pPr>
            <a:r>
              <a:rPr lang="en-US" sz="1400" dirty="0">
                <a:solidFill>
                  <a:srgbClr val="1E2329"/>
                </a:solidFill>
                <a:latin typeface="Noto Sans" pitchFamily="34" charset="0"/>
                <a:ea typeface="Noto Sans" pitchFamily="34" charset="-122"/>
                <a:cs typeface="Noto Sans" pitchFamily="34" charset="-120"/>
              </a:rPr>
              <a:t>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582180"/>
            <a:ext cx="6502237" cy="586680"/>
          </a:xfrm>
          <a:prstGeom prst="rect">
            <a:avLst/>
          </a:prstGeom>
          <a:noFill/>
          <a:ln/>
        </p:spPr>
        <p:txBody>
          <a:bodyPr wrap="none" lIns="0" tIns="0" rIns="0" bIns="0" rtlCol="0" anchor="t"/>
          <a:lstStyle/>
          <a:p>
            <a:pPr algn="l" indent="0" marL="0">
              <a:lnSpc>
                <a:spcPct val="92000"/>
              </a:lnSpc>
              <a:buNone/>
            </a:pPr>
            <a:r>
              <a:rPr lang="en-US" sz="4200" spc="-63" kern="100" dirty="0">
                <a:solidFill>
                  <a:srgbClr val="1E2329"/>
                </a:solidFill>
                <a:latin typeface="Rubik ExtraBold" pitchFamily="34" charset="0"/>
                <a:ea typeface="Rubik ExtraBold" pitchFamily="34" charset="-122"/>
                <a:cs typeface="Rubik ExtraBold" pitchFamily="34" charset="-120"/>
              </a:rPr>
              <a:t>Impact of His Bravery</a:t>
            </a:r>
            <a:endParaRPr lang="en-US" sz="4200" dirty="0"/>
          </a:p>
        </p:txBody>
      </p:sp>
      <p:sp>
        <p:nvSpPr>
          <p:cNvPr id="3" name="Shape 1"/>
          <p:cNvSpPr/>
          <p:nvPr/>
        </p:nvSpPr>
        <p:spPr>
          <a:xfrm>
            <a:off x="609585" y="1447105"/>
            <a:ext cx="6502237" cy="2479873"/>
          </a:xfrm>
          <a:prstGeom prst="rect">
            <a:avLst/>
          </a:prstGeom>
          <a:solidFill>
            <a:srgbClr val="DDEDE6"/>
          </a:solidFill>
          <a:ln/>
        </p:spPr>
      </p:sp>
      <p:sp>
        <p:nvSpPr>
          <p:cNvPr id="4" name="Text 2"/>
          <p:cNvSpPr/>
          <p:nvPr/>
        </p:nvSpPr>
        <p:spPr>
          <a:xfrm>
            <a:off x="863578" y="1727916"/>
            <a:ext cx="5994250" cy="796528"/>
          </a:xfrm>
          <a:prstGeom prst="rect">
            <a:avLst/>
          </a:prstGeom>
          <a:noFill/>
          <a:ln/>
        </p:spPr>
        <p:txBody>
          <a:bodyPr wrap="none" lIns="0" tIns="0" rIns="0" bIns="0" rtlCol="0" anchor="t"/>
          <a:lstStyle/>
          <a:p>
            <a:pPr algn="l" indent="0" marL="0">
              <a:lnSpc>
                <a:spcPct val="93000"/>
              </a:lnSpc>
              <a:buNone/>
            </a:pPr>
            <a:r>
              <a:rPr lang="en-US" sz="5600" spc="-84" kern="100" dirty="0">
                <a:solidFill>
                  <a:srgbClr val="000000"/>
                </a:solidFill>
                <a:highlight>
                  <a:srgbClr val="FFD84D"/>
                </a:highlight>
                <a:latin typeface="Rubik ExtraBold" pitchFamily="34" charset="0"/>
                <a:ea typeface="Rubik ExtraBold" pitchFamily="34" charset="-122"/>
                <a:cs typeface="Rubik ExtraBold" pitchFamily="34" charset="-120"/>
              </a:rPr>
              <a:t>8</a:t>
            </a:r>
            <a:endParaRPr lang="en-US" sz="5600" dirty="0"/>
          </a:p>
        </p:txBody>
      </p:sp>
      <p:sp>
        <p:nvSpPr>
          <p:cNvPr id="5" name="Text 3"/>
          <p:cNvSpPr/>
          <p:nvPr/>
        </p:nvSpPr>
        <p:spPr>
          <a:xfrm>
            <a:off x="863578" y="2815451"/>
            <a:ext cx="5994250" cy="822920"/>
          </a:xfrm>
          <a:prstGeom prst="rect">
            <a:avLst/>
          </a:prstGeom>
          <a:noFill/>
          <a:ln/>
        </p:spPr>
        <p:txBody>
          <a:bodyPr wrap="square" lIns="0" tIns="0" rIns="0" bIns="0" rtlCol="0" anchor="t">
            <a:normAutofit/>
          </a:bodyPr>
          <a:lstStyle/>
          <a:p>
            <a:pPr algn="l" indent="0" marL="0">
              <a:lnSpc>
                <a:spcPct val="113000"/>
              </a:lnSpc>
              <a:buNone/>
            </a:pPr>
            <a:r>
              <a:rPr lang="en-US" sz="2400" b="1" dirty="0">
                <a:solidFill>
                  <a:srgbClr val="1E2329"/>
                </a:solidFill>
                <a:latin typeface="Noto Sans Bold" pitchFamily="34" charset="0"/>
                <a:ea typeface="Noto Sans Bold" pitchFamily="34" charset="-122"/>
                <a:cs typeface="Noto Sans Bold" pitchFamily="34" charset="-120"/>
              </a:rPr>
              <a:t>enemy Patton tanks</a:t>
            </a:r>
            <a:pPr algn="l" indent="0" marL="0">
              <a:lnSpc>
                <a:spcPct val="113000"/>
              </a:lnSpc>
              <a:buNone/>
            </a:pPr>
            <a:r>
              <a:rPr lang="en-US" sz="2400" dirty="0">
                <a:solidFill>
                  <a:srgbClr val="1E2329"/>
                </a:solidFill>
                <a:latin typeface="Noto Sans" pitchFamily="34" charset="0"/>
                <a:ea typeface="Noto Sans" pitchFamily="34" charset="-122"/>
                <a:cs typeface="Noto Sans" pitchFamily="34" charset="-120"/>
              </a:rPr>
              <a:t> destroyed in total during the battle</a:t>
            </a:r>
            <a:endParaRPr lang="en-US" sz="2400" dirty="0"/>
          </a:p>
        </p:txBody>
      </p:sp>
      <p:sp>
        <p:nvSpPr>
          <p:cNvPr id="6" name="Text 4"/>
          <p:cNvSpPr/>
          <p:nvPr/>
        </p:nvSpPr>
        <p:spPr>
          <a:xfrm>
            <a:off x="609585" y="4200029"/>
            <a:ext cx="6502237" cy="1918891"/>
          </a:xfrm>
          <a:prstGeom prst="rect">
            <a:avLst/>
          </a:prstGeom>
          <a:noFill/>
          <a:ln/>
        </p:spPr>
        <p:txBody>
          <a:bodyPr wrap="square" lIns="0" tIns="0" rIns="0" bIns="0" rtlCol="0" anchor="t">
            <a:normAutofit/>
          </a:bodyPr>
          <a:lstStyle/>
          <a:p>
            <a:pPr algn="l" indent="0" marL="0">
              <a:lnSpc>
                <a:spcPct val="113000"/>
              </a:lnSpc>
              <a:spcAft>
                <a:spcPts val="2100"/>
              </a:spcAft>
              <a:buNone/>
            </a:pPr>
            <a:r>
              <a:rPr lang="en-US" sz="2400" dirty="0">
                <a:solidFill>
                  <a:srgbClr val="1E2329"/>
                </a:solidFill>
                <a:latin typeface="Noto Sans" pitchFamily="34" charset="0"/>
                <a:ea typeface="Noto Sans" pitchFamily="34" charset="-122"/>
                <a:cs typeface="Noto Sans" pitchFamily="34" charset="-120"/>
              </a:rPr>
              <a:t>The battle zone became </a:t>
            </a:r>
            <a:pPr algn="l" indent="0" marL="0">
              <a:lnSpc>
                <a:spcPct val="113000"/>
              </a:lnSpc>
              <a:spcAft>
                <a:spcPts val="2100"/>
              </a:spcAft>
              <a:buNone/>
            </a:pPr>
            <a:r>
              <a:rPr lang="en-US" sz="2400" b="1" dirty="0">
                <a:solidFill>
                  <a:srgbClr val="1E2329"/>
                </a:solidFill>
                <a:latin typeface="Noto Sans Bold" pitchFamily="34" charset="0"/>
                <a:ea typeface="Noto Sans Bold" pitchFamily="34" charset="-122"/>
                <a:cs typeface="Noto Sans Bold" pitchFamily="34" charset="-120"/>
              </a:rPr>
              <a:t>"Patton Nagar"</a:t>
            </a:r>
            <a:pPr algn="l" indent="0" marL="0">
              <a:lnSpc>
                <a:spcPct val="113000"/>
              </a:lnSpc>
              <a:spcAft>
                <a:spcPts val="2100"/>
              </a:spcAft>
              <a:buNone/>
            </a:pPr>
            <a:r>
              <a:rPr lang="en-US" sz="2400" dirty="0">
                <a:solidFill>
                  <a:srgbClr val="1E2329"/>
                </a:solidFill>
                <a:latin typeface="Noto Sans" pitchFamily="34" charset="0"/>
                <a:ea typeface="Noto Sans" pitchFamily="34" charset="-122"/>
                <a:cs typeface="Noto Sans" pitchFamily="34" charset="-120"/>
              </a:rPr>
              <a:t>, the graveyard of Pakistani tanks.</a:t>
            </a:r>
            <a:endParaRPr lang="en-US" sz="2400" dirty="0"/>
          </a:p>
          <a:p>
            <a:pPr algn="l" indent="0" marL="0">
              <a:lnSpc>
                <a:spcPct val="113000"/>
              </a:lnSpc>
              <a:buNone/>
            </a:pPr>
            <a:r>
              <a:rPr lang="en-US" sz="2400" dirty="0">
                <a:solidFill>
                  <a:srgbClr val="1E2329"/>
                </a:solidFill>
                <a:latin typeface="Noto Sans" pitchFamily="34" charset="0"/>
                <a:ea typeface="Noto Sans" pitchFamily="34" charset="-122"/>
                <a:cs typeface="Noto Sans" pitchFamily="34" charset="-120"/>
              </a:rPr>
              <a:t>Broke the main enemy tank attack and </a:t>
            </a:r>
            <a:pPr algn="l" indent="0" marL="0">
              <a:lnSpc>
                <a:spcPct val="113000"/>
              </a:lnSpc>
              <a:buNone/>
            </a:pPr>
            <a:r>
              <a:rPr lang="en-US" sz="2400" b="1" dirty="0">
                <a:solidFill>
                  <a:srgbClr val="1E2329"/>
                </a:solidFill>
                <a:latin typeface="Noto Sans Bold" pitchFamily="34" charset="0"/>
                <a:ea typeface="Noto Sans Bold" pitchFamily="34" charset="-122"/>
                <a:cs typeface="Noto Sans Bold" pitchFamily="34" charset="-120"/>
              </a:rPr>
              <a:t>saved the Khem Karan sector</a:t>
            </a:r>
            <a:pPr algn="l" indent="0" marL="0">
              <a:lnSpc>
                <a:spcPct val="113000"/>
              </a:lnSpc>
              <a:buNone/>
            </a:pPr>
            <a:r>
              <a:rPr lang="en-US" sz="2400" dirty="0">
                <a:solidFill>
                  <a:srgbClr val="1E2329"/>
                </a:solidFill>
                <a:latin typeface="Noto Sans" pitchFamily="34" charset="0"/>
                <a:ea typeface="Noto Sans" pitchFamily="34" charset="-122"/>
                <a:cs typeface="Noto Sans" pitchFamily="34" charset="-120"/>
              </a:rPr>
              <a:t>.</a:t>
            </a:r>
            <a:endParaRPr lang="en-US" sz="2400" dirty="0"/>
          </a:p>
        </p:txBody>
      </p:sp>
      <p:pic>
        <p:nvPicPr>
          <p:cNvPr id="7" name="Image 0" descr="preencoded.png">    </p:cNvPr>
          <p:cNvPicPr>
            <a:picLocks noChangeAspect="1"/>
          </p:cNvPicPr>
          <p:nvPr/>
        </p:nvPicPr>
        <p:blipFill>
          <a:blip r:embed="rId1"/>
          <a:stretch>
            <a:fillRect/>
          </a:stretch>
        </p:blipFill>
        <p:spPr>
          <a:xfrm>
            <a:off x="7721407" y="0"/>
            <a:ext cx="4470288" cy="6858000"/>
          </a:xfrm>
          <a:prstGeom prst="rect">
            <a:avLst/>
          </a:prstGeom>
        </p:spPr>
      </p:pic>
      <p:sp>
        <p:nvSpPr>
          <p:cNvPr id="8" name="Text 5"/>
          <p:cNvSpPr/>
          <p:nvPr/>
        </p:nvSpPr>
        <p:spPr>
          <a:xfrm>
            <a:off x="254192" y="6433145"/>
            <a:ext cx="711381" cy="240010"/>
          </a:xfrm>
          <a:prstGeom prst="rect">
            <a:avLst/>
          </a:prstGeom>
          <a:noFill/>
          <a:ln/>
        </p:spPr>
        <p:txBody>
          <a:bodyPr wrap="none" lIns="0" tIns="0" rIns="0" bIns="0" rtlCol="0" anchor="ctr"/>
          <a:lstStyle/>
          <a:p>
            <a:pPr algn="l" indent="0" marL="0">
              <a:lnSpc>
                <a:spcPct val="112000"/>
              </a:lnSpc>
              <a:buNone/>
            </a:pPr>
            <a:r>
              <a:rPr lang="en-US" sz="1400" dirty="0">
                <a:solidFill>
                  <a:srgbClr val="1E2329"/>
                </a:solidFill>
                <a:latin typeface="Noto Sans" pitchFamily="34" charset="0"/>
                <a:ea typeface="Noto Sans" pitchFamily="34" charset="-122"/>
                <a:cs typeface="Noto Sans" pitchFamily="34" charset="-120"/>
              </a:rPr>
              <a:t>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283068" cy="6858000"/>
          </a:xfrm>
          <a:prstGeom prst="rect">
            <a:avLst/>
          </a:prstGeom>
        </p:spPr>
      </p:pic>
      <p:sp>
        <p:nvSpPr>
          <p:cNvPr id="3" name="Shape 0"/>
          <p:cNvSpPr/>
          <p:nvPr/>
        </p:nvSpPr>
        <p:spPr>
          <a:xfrm>
            <a:off x="5841854" y="558800"/>
            <a:ext cx="2784802" cy="664071"/>
          </a:xfrm>
          <a:prstGeom prst="roundRect">
            <a:avLst>
              <a:gd name="adj" fmla="val 4590"/>
            </a:avLst>
          </a:prstGeom>
          <a:noFill/>
          <a:ln w="6350">
            <a:solidFill>
              <a:srgbClr val="DFDFE0"/>
            </a:solidFill>
            <a:prstDash val="solid"/>
          </a:ln>
        </p:spPr>
      </p:sp>
      <p:sp>
        <p:nvSpPr>
          <p:cNvPr id="4" name="Text 1"/>
          <p:cNvSpPr/>
          <p:nvPr/>
        </p:nvSpPr>
        <p:spPr>
          <a:xfrm>
            <a:off x="6137717" y="728960"/>
            <a:ext cx="2802661" cy="361851"/>
          </a:xfrm>
          <a:prstGeom prst="rect">
            <a:avLst/>
          </a:prstGeom>
          <a:noFill/>
          <a:ln/>
        </p:spPr>
        <p:txBody>
          <a:bodyPr wrap="none" lIns="0" tIns="0" rIns="0" bIns="0" rtlCol="0" anchor="t"/>
          <a:lstStyle/>
          <a:p>
            <a:pPr algn="l" indent="0" marL="0">
              <a:lnSpc>
                <a:spcPct val="104000"/>
              </a:lnSpc>
              <a:buNone/>
            </a:pPr>
            <a:r>
              <a:rPr lang="en-US" sz="2300" dirty="0">
                <a:solidFill>
                  <a:srgbClr val="0E6B5C"/>
                </a:solidFill>
                <a:latin typeface="Noto Sans Medium" pitchFamily="34" charset="0"/>
                <a:ea typeface="Noto Sans Medium" pitchFamily="34" charset="-122"/>
                <a:cs typeface="Noto Sans Medium" pitchFamily="34" charset="-120"/>
              </a:rPr>
              <a:t>Supreme Honor</a:t>
            </a:r>
            <a:endParaRPr lang="en-US" sz="2300" dirty="0"/>
          </a:p>
        </p:txBody>
      </p:sp>
      <p:sp>
        <p:nvSpPr>
          <p:cNvPr id="5" name="Text 2"/>
          <p:cNvSpPr/>
          <p:nvPr/>
        </p:nvSpPr>
        <p:spPr>
          <a:xfrm>
            <a:off x="5841854" y="1395476"/>
            <a:ext cx="5791055" cy="1760041"/>
          </a:xfrm>
          <a:prstGeom prst="rect">
            <a:avLst/>
          </a:prstGeom>
          <a:noFill/>
          <a:ln/>
        </p:spPr>
        <p:txBody>
          <a:bodyPr wrap="square" lIns="0" tIns="0" rIns="0" bIns="0" rtlCol="0" anchor="t">
            <a:normAutofit/>
          </a:bodyPr>
          <a:lstStyle/>
          <a:p>
            <a:pPr algn="l" indent="0" marL="0">
              <a:lnSpc>
                <a:spcPct val="92000"/>
              </a:lnSpc>
              <a:buNone/>
            </a:pPr>
            <a:r>
              <a:rPr lang="en-US" sz="4200" spc="-63" kern="100" dirty="0">
                <a:solidFill>
                  <a:srgbClr val="1E2329"/>
                </a:solidFill>
                <a:latin typeface="Rubik ExtraBold" pitchFamily="34" charset="0"/>
                <a:ea typeface="Rubik ExtraBold" pitchFamily="34" charset="-122"/>
                <a:cs typeface="Rubik ExtraBold" pitchFamily="34" charset="-120"/>
              </a:rPr>
              <a:t>The Param Vir Chakra: His Highest Military Honor</a:t>
            </a:r>
            <a:endParaRPr lang="en-US" sz="4200" dirty="0"/>
          </a:p>
        </p:txBody>
      </p:sp>
      <p:sp>
        <p:nvSpPr>
          <p:cNvPr id="6" name="Text 3"/>
          <p:cNvSpPr/>
          <p:nvPr/>
        </p:nvSpPr>
        <p:spPr>
          <a:xfrm>
            <a:off x="5841854" y="3433763"/>
            <a:ext cx="5791055" cy="2544961"/>
          </a:xfrm>
          <a:prstGeom prst="rect">
            <a:avLst/>
          </a:prstGeom>
          <a:noFill/>
          <a:ln/>
        </p:spPr>
        <p:txBody>
          <a:bodyPr wrap="square" lIns="0" tIns="0" rIns="0" bIns="0" rtlCol="0" anchor="t">
            <a:normAutofit/>
          </a:bodyPr>
          <a:lstStyle/>
          <a:p>
            <a:pPr algn="l" marL="487680" indent="-487680">
              <a:lnSpc>
                <a:spcPct val="113000"/>
              </a:lnSpc>
              <a:buSzPct val="100000"/>
              <a:buChar char="•"/>
            </a:pPr>
            <a:r>
              <a:rPr lang="en-US" sz="2400" dirty="0">
                <a:solidFill>
                  <a:srgbClr val="1E2329"/>
                </a:solidFill>
                <a:latin typeface="Noto Sans" pitchFamily="34" charset="0"/>
                <a:ea typeface="Noto Sans" pitchFamily="34" charset="-122"/>
                <a:cs typeface="Noto Sans" pitchFamily="34" charset="-120"/>
              </a:rPr>
              <a:t>Posthumously awarded the </a:t>
            </a:r>
            <a:pPr algn="l" marL="487680" indent="-487680">
              <a:lnSpc>
                <a:spcPct val="113000"/>
              </a:lnSpc>
              <a:buSzPct val="100000"/>
              <a:buChar char="•"/>
            </a:pPr>
            <a:r>
              <a:rPr lang="en-US" sz="2400" b="1" dirty="0">
                <a:solidFill>
                  <a:srgbClr val="1E2329"/>
                </a:solidFill>
                <a:latin typeface="Noto Sans Bold" pitchFamily="34" charset="0"/>
                <a:ea typeface="Noto Sans Bold" pitchFamily="34" charset="-122"/>
                <a:cs typeface="Noto Sans Bold" pitchFamily="34" charset="-120"/>
              </a:rPr>
              <a:t>Param Vir Chakra</a:t>
            </a:r>
            <a:pPr algn="l" marL="487680" indent="-487680">
              <a:lnSpc>
                <a:spcPct val="113000"/>
              </a:lnSpc>
              <a:buSzPct val="100000"/>
              <a:buChar char="•"/>
            </a:pPr>
            <a:r>
              <a:rPr lang="en-US" sz="2400" dirty="0">
                <a:solidFill>
                  <a:srgbClr val="1E2329"/>
                </a:solidFill>
                <a:latin typeface="Noto Sans" pitchFamily="34" charset="0"/>
                <a:ea typeface="Noto Sans" pitchFamily="34" charset="-122"/>
                <a:cs typeface="Noto Sans" pitchFamily="34" charset="-120"/>
              </a:rPr>
              <a:t>, India's highest wartime gallantry medal</a:t>
            </a:r>
            <a:endParaRPr lang="en-US" sz="2400" dirty="0"/>
          </a:p>
          <a:p>
            <a:pPr algn="l" marL="487680" indent="-487680">
              <a:lnSpc>
                <a:spcPct val="113000"/>
              </a:lnSpc>
              <a:buSzPct val="100000"/>
              <a:buChar char="•"/>
            </a:pPr>
            <a:r>
              <a:rPr lang="en-US" sz="2400" dirty="0">
                <a:solidFill>
                  <a:srgbClr val="1E2329"/>
                </a:solidFill>
                <a:latin typeface="Noto Sans" pitchFamily="34" charset="0"/>
                <a:ea typeface="Noto Sans" pitchFamily="34" charset="-122"/>
                <a:cs typeface="Noto Sans" pitchFamily="34" charset="-120"/>
              </a:rPr>
              <a:t>Remembered as a symbol of </a:t>
            </a:r>
            <a:pPr algn="l" marL="487680" indent="-487680">
              <a:lnSpc>
                <a:spcPct val="113000"/>
              </a:lnSpc>
              <a:buSzPct val="100000"/>
              <a:buChar char="•"/>
            </a:pPr>
            <a:r>
              <a:rPr lang="en-US" sz="2400" b="1" dirty="0">
                <a:solidFill>
                  <a:srgbClr val="1E2329"/>
                </a:solidFill>
                <a:latin typeface="Noto Sans Bold" pitchFamily="34" charset="0"/>
                <a:ea typeface="Noto Sans Bold" pitchFamily="34" charset="-122"/>
                <a:cs typeface="Noto Sans Bold" pitchFamily="34" charset="-120"/>
              </a:rPr>
              <a:t>courage, discipline</a:t>
            </a:r>
            <a:pPr algn="l" marL="487680" indent="-487680">
              <a:lnSpc>
                <a:spcPct val="113000"/>
              </a:lnSpc>
              <a:buSzPct val="100000"/>
              <a:buChar char="•"/>
            </a:pPr>
            <a:r>
              <a:rPr lang="en-US" sz="2400" dirty="0">
                <a:solidFill>
                  <a:srgbClr val="1E2329"/>
                </a:solidFill>
                <a:latin typeface="Noto Sans" pitchFamily="34" charset="0"/>
                <a:ea typeface="Noto Sans" pitchFamily="34" charset="-122"/>
                <a:cs typeface="Noto Sans" pitchFamily="34" charset="-120"/>
              </a:rPr>
              <a:t>, and devotion to the nation</a:t>
            </a:r>
            <a:endParaRPr lang="en-US" sz="2400" dirty="0"/>
          </a:p>
        </p:txBody>
      </p:sp>
      <p:sp>
        <p:nvSpPr>
          <p:cNvPr id="7" name="Text 4"/>
          <p:cNvSpPr/>
          <p:nvPr/>
        </p:nvSpPr>
        <p:spPr>
          <a:xfrm>
            <a:off x="11835707" y="6433145"/>
            <a:ext cx="355988" cy="240010"/>
          </a:xfrm>
          <a:prstGeom prst="rect">
            <a:avLst/>
          </a:prstGeom>
          <a:noFill/>
          <a:ln/>
        </p:spPr>
        <p:txBody>
          <a:bodyPr wrap="none" lIns="0" tIns="0" rIns="0" bIns="0" rtlCol="0" anchor="ctr"/>
          <a:lstStyle/>
          <a:p>
            <a:pPr algn="l" indent="0" marL="0">
              <a:lnSpc>
                <a:spcPct val="112000"/>
              </a:lnSpc>
              <a:buNone/>
            </a:pPr>
            <a:r>
              <a:rPr lang="en-US" sz="1400" dirty="0">
                <a:solidFill>
                  <a:srgbClr val="1E2329"/>
                </a:solidFill>
                <a:latin typeface="Noto Sans" pitchFamily="34" charset="0"/>
                <a:ea typeface="Noto Sans" pitchFamily="34" charset="-122"/>
                <a:cs typeface="Noto Sans" pitchFamily="34" charset="-120"/>
              </a:rPr>
              <a:t>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11182" y="536274"/>
            <a:ext cx="10769331" cy="670520"/>
          </a:xfrm>
          <a:prstGeom prst="rect">
            <a:avLst/>
          </a:prstGeom>
          <a:noFill/>
          <a:ln/>
        </p:spPr>
        <p:txBody>
          <a:bodyPr wrap="none" lIns="0" tIns="0" rIns="0" bIns="0" rtlCol="0" anchor="t"/>
          <a:lstStyle/>
          <a:p>
            <a:pPr algn="l" indent="0" marL="0">
              <a:lnSpc>
                <a:spcPct val="92000"/>
              </a:lnSpc>
              <a:buNone/>
            </a:pPr>
            <a:r>
              <a:rPr lang="en-US" sz="4800" spc="-72" kern="100" dirty="0">
                <a:solidFill>
                  <a:srgbClr val="FFFFFF"/>
                </a:solidFill>
                <a:latin typeface="Rubik ExtraBold" pitchFamily="34" charset="0"/>
                <a:ea typeface="Rubik ExtraBold" pitchFamily="34" charset="-122"/>
                <a:cs typeface="Rubik ExtraBold" pitchFamily="34" charset="-120"/>
              </a:rPr>
              <a:t>Conclusion: What We Learn</a:t>
            </a:r>
            <a:endParaRPr lang="en-US" sz="4800" dirty="0"/>
          </a:p>
        </p:txBody>
      </p:sp>
      <p:sp>
        <p:nvSpPr>
          <p:cNvPr id="3" name="Shape 1"/>
          <p:cNvSpPr/>
          <p:nvPr/>
        </p:nvSpPr>
        <p:spPr>
          <a:xfrm>
            <a:off x="711182" y="1554758"/>
            <a:ext cx="10769331" cy="12601"/>
          </a:xfrm>
          <a:prstGeom prst="roundRect">
            <a:avLst>
              <a:gd name="adj" fmla="val 49998"/>
            </a:avLst>
          </a:prstGeom>
          <a:solidFill>
            <a:srgbClr val="F7F6F1"/>
          </a:solidFill>
          <a:ln/>
        </p:spPr>
      </p:sp>
      <p:sp>
        <p:nvSpPr>
          <p:cNvPr id="4" name="Text 2"/>
          <p:cNvSpPr/>
          <p:nvPr/>
        </p:nvSpPr>
        <p:spPr>
          <a:xfrm>
            <a:off x="711182" y="1931313"/>
            <a:ext cx="5156071" cy="822920"/>
          </a:xfrm>
          <a:prstGeom prst="rect">
            <a:avLst/>
          </a:prstGeom>
          <a:noFill/>
          <a:ln/>
        </p:spPr>
        <p:txBody>
          <a:bodyPr wrap="square" lIns="0" tIns="0" rIns="0" bIns="0" rtlCol="0" anchor="t">
            <a:normAutofit/>
          </a:bodyPr>
          <a:lstStyle/>
          <a:p>
            <a:pPr algn="l" indent="0" marL="0">
              <a:lnSpc>
                <a:spcPct val="113000"/>
              </a:lnSpc>
              <a:buNone/>
            </a:pPr>
            <a:r>
              <a:rPr lang="en-US" sz="2400" dirty="0">
                <a:solidFill>
                  <a:srgbClr val="FFFFFF"/>
                </a:solidFill>
                <a:latin typeface="Noto Sans" pitchFamily="34" charset="0"/>
                <a:ea typeface="Noto Sans" pitchFamily="34" charset="-122"/>
                <a:cs typeface="Noto Sans" pitchFamily="34" charset="-120"/>
              </a:rPr>
              <a:t>Heroism depends on </a:t>
            </a:r>
            <a:pPr algn="l" indent="0" marL="0">
              <a:lnSpc>
                <a:spcPct val="113000"/>
              </a:lnSpc>
              <a:buNone/>
            </a:pPr>
            <a:r>
              <a:rPr lang="en-US" sz="2400" b="1" dirty="0">
                <a:solidFill>
                  <a:srgbClr val="FFFFFF"/>
                </a:solidFill>
                <a:latin typeface="Noto Sans Bold" pitchFamily="34" charset="0"/>
                <a:ea typeface="Noto Sans Bold" pitchFamily="34" charset="-122"/>
                <a:cs typeface="Noto Sans Bold" pitchFamily="34" charset="-120"/>
              </a:rPr>
              <a:t>courage and strategy</a:t>
            </a:r>
            <a:pPr algn="l" indent="0" marL="0">
              <a:lnSpc>
                <a:spcPct val="113000"/>
              </a:lnSpc>
              <a:buNone/>
            </a:pPr>
            <a:r>
              <a:rPr lang="en-US" sz="2400" dirty="0">
                <a:solidFill>
                  <a:srgbClr val="FFFFFF"/>
                </a:solidFill>
                <a:latin typeface="Noto Sans" pitchFamily="34" charset="0"/>
                <a:ea typeface="Noto Sans" pitchFamily="34" charset="-122"/>
                <a:cs typeface="Noto Sans" pitchFamily="34" charset="-120"/>
              </a:rPr>
              <a:t>, not just heavy equipment</a:t>
            </a:r>
            <a:endParaRPr lang="en-US" sz="2400" dirty="0"/>
          </a:p>
        </p:txBody>
      </p:sp>
      <p:sp>
        <p:nvSpPr>
          <p:cNvPr id="5" name="Text 3"/>
          <p:cNvSpPr/>
          <p:nvPr/>
        </p:nvSpPr>
        <p:spPr>
          <a:xfrm>
            <a:off x="6324442" y="1931313"/>
            <a:ext cx="5156071" cy="822920"/>
          </a:xfrm>
          <a:prstGeom prst="rect">
            <a:avLst/>
          </a:prstGeom>
          <a:noFill/>
          <a:ln/>
        </p:spPr>
        <p:txBody>
          <a:bodyPr wrap="square" lIns="0" tIns="0" rIns="0" bIns="0" rtlCol="0" anchor="t">
            <a:normAutofit/>
          </a:bodyPr>
          <a:lstStyle/>
          <a:p>
            <a:pPr algn="l" indent="0" marL="0">
              <a:lnSpc>
                <a:spcPct val="113000"/>
              </a:lnSpc>
              <a:buNone/>
            </a:pPr>
            <a:r>
              <a:rPr lang="en-US" sz="2400" dirty="0">
                <a:solidFill>
                  <a:srgbClr val="FFFFFF"/>
                </a:solidFill>
                <a:latin typeface="Noto Sans" pitchFamily="34" charset="0"/>
                <a:ea typeface="Noto Sans" pitchFamily="34" charset="-122"/>
                <a:cs typeface="Noto Sans" pitchFamily="34" charset="-120"/>
              </a:rPr>
              <a:t>His legacy continues to inspire young Indians today</a:t>
            </a:r>
            <a:endParaRPr lang="en-US" sz="2400" dirty="0"/>
          </a:p>
        </p:txBody>
      </p:sp>
      <p:sp>
        <p:nvSpPr>
          <p:cNvPr id="6" name="Text 4"/>
          <p:cNvSpPr/>
          <p:nvPr/>
        </p:nvSpPr>
        <p:spPr>
          <a:xfrm>
            <a:off x="711182" y="5703887"/>
            <a:ext cx="10769331" cy="711200"/>
          </a:xfrm>
          <a:prstGeom prst="rect">
            <a:avLst/>
          </a:prstGeom>
          <a:noFill/>
          <a:ln/>
        </p:spPr>
        <p:txBody>
          <a:bodyPr wrap="none" lIns="0" tIns="0" rIns="0" bIns="0" rtlCol="0" anchor="t"/>
          <a:lstStyle/>
          <a:p>
            <a:pPr algn="l" indent="0" marL="0">
              <a:lnSpc>
                <a:spcPct val="83000"/>
              </a:lnSpc>
              <a:buNone/>
            </a:pPr>
            <a:r>
              <a:rPr lang="en-US" sz="5600" spc="-112" kern="100" dirty="0">
                <a:solidFill>
                  <a:srgbClr val="000000"/>
                </a:solidFill>
                <a:highlight>
                  <a:srgbClr val="FFD84D"/>
                </a:highlight>
                <a:latin typeface="Rubik ExtraBold" pitchFamily="34" charset="0"/>
                <a:ea typeface="Rubik ExtraBold" pitchFamily="34" charset="-122"/>
                <a:cs typeface="Rubik ExtraBold" pitchFamily="34" charset="-120"/>
              </a:rPr>
              <a:t>Jai Hind!</a:t>
            </a:r>
            <a:endParaRPr lang="en-US" sz="5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2026-10-13T12:06:24Z</dcterms:created>
  <dcterms:modified xsi:type="dcterms:W3CDTF">2026-10-13T12:06:24Z</dcterms:modified>
</cp:coreProperties>
</file>